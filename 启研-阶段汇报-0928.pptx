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image" Target="../media/image3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17.png"/><Relationship Id="rId29" Type="http://schemas.openxmlformats.org/officeDocument/2006/relationships/notesSlide" Target="../notesSlides/notesSlide8.xml"/><Relationship Id="rId28" Type="http://schemas.openxmlformats.org/officeDocument/2006/relationships/slideLayout" Target="../slideLayouts/slideLayout1.xml"/><Relationship Id="rId27" Type="http://schemas.openxmlformats.org/officeDocument/2006/relationships/tags" Target="../tags/tag23.xml"/><Relationship Id="rId26" Type="http://schemas.openxmlformats.org/officeDocument/2006/relationships/tags" Target="../tags/tag22.xml"/><Relationship Id="rId25" Type="http://schemas.openxmlformats.org/officeDocument/2006/relationships/tags" Target="../tags/tag21.xml"/><Relationship Id="rId24" Type="http://schemas.openxmlformats.org/officeDocument/2006/relationships/image" Target="../media/image18.png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2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image" Target="../media/image6.png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image" Target="../media/image8.png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18332C"/>
          </a:solidFill>
        </p:spPr>
      </p:sp>
      <p:sp>
        <p:nvSpPr>
          <p:cNvPr id="3" name="Shape 1"/>
          <p:cNvSpPr/>
          <p:nvPr/>
        </p:nvSpPr>
        <p:spPr>
          <a:xfrm>
            <a:off x="8092440" y="0"/>
            <a:ext cx="54864" cy="6858000"/>
          </a:xfrm>
          <a:prstGeom prst="rect">
            <a:avLst/>
          </a:prstGeom>
          <a:solidFill>
            <a:srgbClr val="0F6E64"/>
          </a:solidFill>
        </p:spPr>
      </p:sp>
      <p:sp>
        <p:nvSpPr>
          <p:cNvPr id="4" name="Text 2"/>
          <p:cNvSpPr/>
          <p:nvPr/>
        </p:nvSpPr>
        <p:spPr>
          <a:xfrm>
            <a:off x="566928" y="1234440"/>
            <a:ext cx="6949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F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阶段汇报   ·   2026.09.28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0352" y="1627632"/>
            <a:ext cx="69494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启研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66928" y="2788920"/>
            <a:ext cx="6766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E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面向大一大二。先认识这个人，再给他一件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D5E4D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现在就做得完的事，做完还记得住。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6928" y="443484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6928" y="482803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F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15768" y="443484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15768" y="482803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F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条闭环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4434840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8100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64608" y="482803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F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本机端口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598932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9A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本机可演示。模型断了，规则还在。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0" y="65836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CFC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098280" y="64008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认识你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098280" y="96926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C9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对话里抽出事实，人可以改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1773936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CFC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98280" y="175564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看方向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98280" y="2084832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C9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六个领域，按当前画像建议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2889504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CFC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98280" y="2871216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给下一步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98280" y="32004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C9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二十分钟能做完的一件事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0" y="400507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CFC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98280" y="3986784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陪做完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098280" y="431596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C9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提交后按条目说话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5120640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CFC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098280" y="510235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098280" y="5431536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C9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写回记录，再给下一次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冲刺任务清单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这阶段只选一条走得完的链路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195560" y="6510528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8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/  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4005072" cy="1536192"/>
          </a:xfrm>
          <a:prstGeom prst="roundRect">
            <a:avLst>
              <a:gd name="adj" fmla="val 4762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417320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141732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已接到本机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4088" y="1746504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多画像进入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88" y="2112264"/>
            <a:ext cx="3611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昵称登录，画像可以有多份。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每份各自记住方向和进度。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898648"/>
            <a:ext cx="4005072" cy="1536192"/>
          </a:xfrm>
          <a:prstGeom prst="roundRect">
            <a:avLst>
              <a:gd name="adj" fmla="val 4762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308152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308152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已接到本机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4088" y="3410712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事实可核对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" y="3776472"/>
            <a:ext cx="3611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几轮对话抽出背景和兴趣。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确认之后能改，也能删。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562856"/>
            <a:ext cx="4005072" cy="1536192"/>
          </a:xfrm>
          <a:prstGeom prst="roundRect">
            <a:avLst>
              <a:gd name="adj" fmla="val 4762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4745736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474573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已接到本机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" y="5074920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方向按画像长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" y="5440680"/>
            <a:ext cx="3611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六个领域，各长一棵树。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建议按当前画像分开计算。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1234440"/>
            <a:ext cx="4005072" cy="1536192"/>
          </a:xfrm>
          <a:prstGeom prst="roundRect">
            <a:avLst>
              <a:gd name="adj" fmla="val 4762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417320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12280" y="141732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已接到本机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4608" y="1746504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课程必须真实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64608" y="2112264"/>
            <a:ext cx="3611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旁边检索北大公开课。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没有结果就说明没有。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2898648"/>
            <a:ext cx="4005072" cy="1536192"/>
          </a:xfrm>
          <a:prstGeom prst="roundRect">
            <a:avLst>
              <a:gd name="adj" fmla="val 4762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08152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12280" y="308152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已接到本机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3410712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二十分钟任务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64608" y="3776472"/>
            <a:ext cx="3611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只出当前节点上的题目。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提交后按条目反馈，留在本页。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63440" y="4562856"/>
            <a:ext cx="4005072" cy="1536192"/>
          </a:xfrm>
          <a:prstGeom prst="roundRect">
            <a:avLst>
              <a:gd name="adj" fmla="val 4762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4745736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12280" y="474573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已接到本机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64608" y="5074920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做完要记得住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864608" y="5440680"/>
            <a:ext cx="36118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行为写进记录，刷新不回起点。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换方向之前，要再确认一次。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869680" y="1234440"/>
            <a:ext cx="2816352" cy="4992624"/>
          </a:xfrm>
          <a:prstGeom prst="roundRect">
            <a:avLst>
              <a:gd name="adj" fmla="val 2597"/>
            </a:avLst>
          </a:prstGeom>
          <a:solidFill>
            <a:srgbClr val="10241F"/>
          </a:solidFill>
          <a:ln w="12700">
            <a:solidFill>
              <a:srgbClr val="E4DCD0"/>
            </a:solidFill>
            <a:prstDash val="solid"/>
          </a:ln>
        </p:spPr>
      </p:sp>
      <p:pic>
        <p:nvPicPr>
          <p:cNvPr id="36" name="Image 0" descr="C:\Users\Lenovo\Desktop\Self-Evolved-Agent\product\slides\icons\ban-F6F3E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36" y="1444752"/>
            <a:ext cx="292608" cy="292608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9473184" y="144475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这次不拿来冲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9125712" y="201168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E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论文陪读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9125712" y="265176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E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课题组与竞赛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9125712" y="329184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E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注册和权限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9125712" y="393192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E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向量知识库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9125712" y="45720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E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拆成微服务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9125712" y="521208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EE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离开开发机部署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系统设计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先把边界定死，再让代码往里长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195560" y="6510528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8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 /  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675888" cy="2286000"/>
          </a:xfrm>
          <a:prstGeom prst="roundRect">
            <a:avLst>
              <a:gd name="adj" fmla="val 3200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51790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E7F3F0"/>
          </a:solidFill>
        </p:spPr>
      </p:sp>
      <p:pic>
        <p:nvPicPr>
          <p:cNvPr id="7" name="Image 0" descr="C:\Users\Lenovo\Desktop\Self-Evolved-Agent\product\slides\icons\server-0F6E6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60934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57276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一个进程就够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22376" y="2267712"/>
            <a:ext cx="3236976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FastAPI 单体。校园演示的复杂度，不值得拆服务、上队列。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43400" y="1280160"/>
            <a:ext cx="3675888" cy="2286000"/>
          </a:xfrm>
          <a:prstGeom prst="roundRect">
            <a:avLst>
              <a:gd name="adj" fmla="val 3200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44568" y="151790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E7F3F0"/>
          </a:solidFill>
        </p:spPr>
      </p:sp>
      <p:pic>
        <p:nvPicPr>
          <p:cNvPr id="12" name="Image 1" descr="C:\Users\Lenovo\Desktop\Self-Evolved-Agent\product\slides\icons\database-0F6E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60934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57276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库先放在本机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62856" y="2267712"/>
            <a:ext cx="3236976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 存用户、事实、任务和提交。零运维，表按契约长。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183880" y="1280160"/>
            <a:ext cx="3675888" cy="2286000"/>
          </a:xfrm>
          <a:prstGeom prst="roundRect">
            <a:avLst>
              <a:gd name="adj" fmla="val 3200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85048" y="151790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E7F3F0"/>
          </a:solidFill>
        </p:spPr>
      </p:sp>
      <p:pic>
        <p:nvPicPr>
          <p:cNvPr id="17" name="Image 2" descr="C:\Users\Lenovo\Desktop\Self-Evolved-Agent\product\slides\icons\layers-0F6E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160934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06840" y="157276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页面不经过构建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03336" y="2267712"/>
            <a:ext cx="3236976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静态页直接由服务托管。少一个会在现场坏掉的环节。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02920" y="3749040"/>
            <a:ext cx="3675888" cy="2286000"/>
          </a:xfrm>
          <a:prstGeom prst="roundRect">
            <a:avLst>
              <a:gd name="adj" fmla="val 3200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04088" y="398678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E7F3F0"/>
          </a:solidFill>
        </p:spPr>
      </p:sp>
      <p:pic>
        <p:nvPicPr>
          <p:cNvPr id="22" name="Image 3" descr="C:\Users\Lenovo\Desktop\Self-Evolved-Agent\product\slides\icons\cpu-0F6E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078224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404164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模型待在规则里面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22376" y="4736592"/>
            <a:ext cx="3236976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规则先圈定候选。模型只择优、改措辞。超时就退回规则。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4343400" y="3749040"/>
            <a:ext cx="3675888" cy="2286000"/>
          </a:xfrm>
          <a:prstGeom prst="roundRect">
            <a:avLst>
              <a:gd name="adj" fmla="val 3200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44568" y="398678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E7F3F0"/>
          </a:solidFill>
        </p:spPr>
      </p:sp>
      <p:pic>
        <p:nvPicPr>
          <p:cNvPr id="27" name="Image 4" descr="C:\Users\Lenovo\Desktop\Self-Evolved-Agent\product\slides\icons\search-0F6E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4078224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66360" y="404164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搜课只读，失败可见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562856" y="4736592"/>
            <a:ext cx="3236976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独立技能查公开课。不登录教务。查不到就原样说查不到。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8183880" y="3749040"/>
            <a:ext cx="3675888" cy="2286000"/>
          </a:xfrm>
          <a:prstGeom prst="roundRect">
            <a:avLst>
              <a:gd name="adj" fmla="val 3200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85048" y="398678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E7F3F0"/>
          </a:solidFill>
        </p:spPr>
      </p:sp>
      <p:pic>
        <p:nvPicPr>
          <p:cNvPr id="32" name="Image 5" descr="C:\Users\Lenovo\Desktop\Self-Evolved-Agent\product\slides\icons\workflow-0F6E6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4078224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06840" y="404164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对话不自由发散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403336" y="4736592"/>
            <a:ext cx="3236976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显式状态机，轮数有限。能复现，也控得住调用成本。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软件体系结构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浏览器只展示，决定和记忆在一个进程里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195560" y="6510528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8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/  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183112" cy="841248"/>
          </a:xfrm>
          <a:prstGeom prst="roundRect">
            <a:avLst>
              <a:gd name="adj" fmla="val 8696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pic>
        <p:nvPicPr>
          <p:cNvPr id="6" name="Image 0" descr="C:\Users\Lenovo\Desktop\Self-Evolved-Agent\product\slides\icons\monitor-0F6E6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2646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1298448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浏览器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33856" y="1591056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web/  ·  无构建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794760" y="1389888"/>
            <a:ext cx="1353312" cy="402336"/>
          </a:xfrm>
          <a:prstGeom prst="roundRect">
            <a:avLst>
              <a:gd name="adj" fmla="val 18182"/>
            </a:avLst>
          </a:prstGeom>
          <a:solidFill>
            <a:srgbClr val="0F6E64"/>
          </a:solidFill>
        </p:spPr>
      </p:sp>
      <p:sp>
        <p:nvSpPr>
          <p:cNvPr id="10" name="Text 7"/>
          <p:cNvSpPr/>
          <p:nvPr/>
        </p:nvSpPr>
        <p:spPr>
          <a:xfrm>
            <a:off x="3794760" y="1463040"/>
            <a:ext cx="1353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今日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303520" y="1389888"/>
            <a:ext cx="1353312" cy="402336"/>
          </a:xfrm>
          <a:prstGeom prst="roundRect">
            <a:avLst>
              <a:gd name="adj" fmla="val 18182"/>
            </a:avLst>
          </a:prstGeom>
          <a:solidFill>
            <a:srgbClr val="E7F3F0"/>
          </a:solidFill>
        </p:spPr>
      </p:sp>
      <p:sp>
        <p:nvSpPr>
          <p:cNvPr id="12" name="Text 9"/>
          <p:cNvSpPr/>
          <p:nvPr/>
        </p:nvSpPr>
        <p:spPr>
          <a:xfrm>
            <a:off x="5303520" y="1463040"/>
            <a:ext cx="1353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4F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12280" y="1389888"/>
            <a:ext cx="1353312" cy="402336"/>
          </a:xfrm>
          <a:prstGeom prst="roundRect">
            <a:avLst>
              <a:gd name="adj" fmla="val 18182"/>
            </a:avLst>
          </a:prstGeom>
          <a:solidFill>
            <a:srgbClr val="E7F3F0"/>
          </a:solidFill>
        </p:spPr>
      </p:sp>
      <p:sp>
        <p:nvSpPr>
          <p:cNvPr id="14" name="Text 11"/>
          <p:cNvSpPr/>
          <p:nvPr/>
        </p:nvSpPr>
        <p:spPr>
          <a:xfrm>
            <a:off x="6812280" y="1463040"/>
            <a:ext cx="1353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4F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321040" y="1389888"/>
            <a:ext cx="1353312" cy="402336"/>
          </a:xfrm>
          <a:prstGeom prst="roundRect">
            <a:avLst>
              <a:gd name="adj" fmla="val 18182"/>
            </a:avLst>
          </a:prstGeom>
          <a:solidFill>
            <a:srgbClr val="E7F3F0"/>
          </a:solidFill>
        </p:spPr>
      </p:sp>
      <p:sp>
        <p:nvSpPr>
          <p:cNvPr id="16" name="Text 13"/>
          <p:cNvSpPr/>
          <p:nvPr/>
        </p:nvSpPr>
        <p:spPr>
          <a:xfrm>
            <a:off x="8321040" y="1463040"/>
            <a:ext cx="1353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4F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829800" y="1389888"/>
            <a:ext cx="1353312" cy="402336"/>
          </a:xfrm>
          <a:prstGeom prst="roundRect">
            <a:avLst>
              <a:gd name="adj" fmla="val 18182"/>
            </a:avLst>
          </a:prstGeom>
          <a:solidFill>
            <a:srgbClr val="E7F3F0"/>
          </a:solidFill>
        </p:spPr>
      </p:sp>
      <p:sp>
        <p:nvSpPr>
          <p:cNvPr id="18" name="Text 15"/>
          <p:cNvSpPr/>
          <p:nvPr/>
        </p:nvSpPr>
        <p:spPr>
          <a:xfrm>
            <a:off x="9829800" y="1463040"/>
            <a:ext cx="1353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4F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25312" y="2084832"/>
            <a:ext cx="256032" cy="201168"/>
          </a:xfrm>
          <a:prstGeom prst="downArrow">
            <a:avLst/>
          </a:prstGeom>
          <a:solidFill>
            <a:srgbClr val="0F6E64"/>
          </a:solidFill>
        </p:spPr>
      </p:sp>
      <p:sp>
        <p:nvSpPr>
          <p:cNvPr id="20" name="Shape 17"/>
          <p:cNvSpPr/>
          <p:nvPr/>
        </p:nvSpPr>
        <p:spPr>
          <a:xfrm>
            <a:off x="502920" y="2359152"/>
            <a:ext cx="11183112" cy="1965960"/>
          </a:xfrm>
          <a:prstGeom prst="roundRect">
            <a:avLst>
              <a:gd name="adj" fmla="val 3721"/>
            </a:avLst>
          </a:prstGeom>
          <a:solidFill>
            <a:srgbClr val="10241F"/>
          </a:solidFill>
        </p:spPr>
      </p:sp>
      <p:pic>
        <p:nvPicPr>
          <p:cNvPr id="21" name="Image 1" descr="C:\Users\Lenovo\Desktop\Self-Evolved-Agent\product\slides\icons\server-F6F3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23744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060704" y="2505456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FastAPI   ·   server/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846320" y="2523744"/>
            <a:ext cx="6492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7C9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REST 契约冻结。页面换了，端点签名不动。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713232" y="2999232"/>
            <a:ext cx="2596896" cy="1097280"/>
          </a:xfrm>
          <a:prstGeom prst="roundRect">
            <a:avLst>
              <a:gd name="adj" fmla="val 6667"/>
            </a:avLst>
          </a:prstGeom>
          <a:solidFill>
            <a:srgbClr val="1C3832"/>
          </a:solidFill>
        </p:spPr>
      </p:sp>
      <p:pic>
        <p:nvPicPr>
          <p:cNvPr id="25" name="Image 2" descr="C:\Users\Lenovo\Desktop\Self-Evolved-Agent\product\slides\icons\message-F6F3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163824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188720" y="3145536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对话状态机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59536" y="3566160"/>
            <a:ext cx="23042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C9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限轮抽取事实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3456432" y="2999232"/>
            <a:ext cx="2596896" cy="1097280"/>
          </a:xfrm>
          <a:prstGeom prst="roundRect">
            <a:avLst>
              <a:gd name="adj" fmla="val 6667"/>
            </a:avLst>
          </a:prstGeom>
          <a:solidFill>
            <a:srgbClr val="1C3832"/>
          </a:solidFill>
        </p:spPr>
      </p:sp>
      <p:pic>
        <p:nvPicPr>
          <p:cNvPr id="29" name="Image 3" descr="C:\Users\Lenovo\Desktop\Self-Evolved-Agent\product\slides\icons\compass-F6F3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736" y="316382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3931920" y="3145536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规划器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3602736" y="3566160"/>
            <a:ext cx="23042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C9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先给出候选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199632" y="2999232"/>
            <a:ext cx="2596896" cy="1097280"/>
          </a:xfrm>
          <a:prstGeom prst="roundRect">
            <a:avLst>
              <a:gd name="adj" fmla="val 6667"/>
            </a:avLst>
          </a:prstGeom>
          <a:solidFill>
            <a:srgbClr val="1C3832"/>
          </a:solidFill>
        </p:spPr>
      </p:sp>
      <p:pic>
        <p:nvPicPr>
          <p:cNvPr id="33" name="Image 4" descr="C:\Users\Lenovo\Desktop\Self-Evolved-Agent\product\slides\icons\clock-F6F3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3163824"/>
            <a:ext cx="256032" cy="25603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675120" y="3145536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任务工作台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6345936" y="3566160"/>
            <a:ext cx="23042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C9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出题、判、反馈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8942832" y="2999232"/>
            <a:ext cx="2596896" cy="1097280"/>
          </a:xfrm>
          <a:prstGeom prst="roundRect">
            <a:avLst>
              <a:gd name="adj" fmla="val 6667"/>
            </a:avLst>
          </a:prstGeom>
          <a:solidFill>
            <a:srgbClr val="1C3832"/>
          </a:solidFill>
        </p:spPr>
      </p:sp>
      <p:pic>
        <p:nvPicPr>
          <p:cNvPr id="37" name="Image 5" descr="C:\Users\Lenovo\Desktop\Self-Evolved-Agent\product\slides\icons\user-F6F3E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36" y="3163824"/>
            <a:ext cx="256032" cy="25603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418320" y="3145536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画像与事实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9089136" y="3566160"/>
            <a:ext cx="230428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C9C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可改、可删、可切换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5925312" y="4407408"/>
            <a:ext cx="256032" cy="182880"/>
          </a:xfrm>
          <a:prstGeom prst="downArrow">
            <a:avLst/>
          </a:prstGeom>
          <a:solidFill>
            <a:srgbClr val="0F6E64"/>
          </a:solidFill>
        </p:spPr>
      </p:sp>
      <p:sp>
        <p:nvSpPr>
          <p:cNvPr id="41" name="Shape 33"/>
          <p:cNvSpPr/>
          <p:nvPr/>
        </p:nvSpPr>
        <p:spPr>
          <a:xfrm>
            <a:off x="502920" y="4681728"/>
            <a:ext cx="3639312" cy="1298448"/>
          </a:xfrm>
          <a:prstGeom prst="roundRect">
            <a:avLst>
              <a:gd name="adj" fmla="val 5634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667512" y="490118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E7F3F0"/>
          </a:solidFill>
        </p:spPr>
      </p:sp>
      <p:pic>
        <p:nvPicPr>
          <p:cNvPr id="43" name="Image 6" descr="C:\Users\Lenovo\Desktop\Self-Evolved-Agent\product\slides\icons\database-0F6E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4983480"/>
            <a:ext cx="256032" cy="256032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216152" y="4864608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</a:t>
            </a:r>
            <a:endParaRPr lang="en-US" sz="1500" dirty="0"/>
          </a:p>
        </p:txBody>
      </p:sp>
      <p:sp>
        <p:nvSpPr>
          <p:cNvPr id="45" name="Text 36"/>
          <p:cNvSpPr/>
          <p:nvPr/>
        </p:nvSpPr>
        <p:spPr>
          <a:xfrm>
            <a:off x="1216152" y="5193792"/>
            <a:ext cx="269748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事实、任务、提交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同一张本机库</a:t>
            </a:r>
            <a:endParaRPr lang="en-US" sz="1300" dirty="0"/>
          </a:p>
        </p:txBody>
      </p:sp>
      <p:sp>
        <p:nvSpPr>
          <p:cNvPr id="46" name="Shape 37"/>
          <p:cNvSpPr/>
          <p:nvPr/>
        </p:nvSpPr>
        <p:spPr>
          <a:xfrm>
            <a:off x="4297680" y="4681728"/>
            <a:ext cx="3639312" cy="1298448"/>
          </a:xfrm>
          <a:prstGeom prst="roundRect">
            <a:avLst>
              <a:gd name="adj" fmla="val 5634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4462272" y="490118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E7F3F0"/>
          </a:solidFill>
        </p:spPr>
      </p:sp>
      <p:pic>
        <p:nvPicPr>
          <p:cNvPr id="48" name="Image 7" descr="C:\Users\Lenovo\Desktop\Self-Evolved-Agent\product\slides\icons\cpu-0F6E6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4568" y="4983480"/>
            <a:ext cx="256032" cy="256032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5010912" y="4864608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DeepSeek</a:t>
            </a:r>
            <a:endParaRPr lang="en-US" sz="1500" dirty="0"/>
          </a:p>
        </p:txBody>
      </p:sp>
      <p:sp>
        <p:nvSpPr>
          <p:cNvPr id="50" name="Text 40"/>
          <p:cNvSpPr/>
          <p:nvPr/>
        </p:nvSpPr>
        <p:spPr>
          <a:xfrm>
            <a:off x="5010912" y="5193792"/>
            <a:ext cx="269748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对话、理由、反馈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失败则退回规则</a:t>
            </a:r>
            <a:endParaRPr lang="en-US" sz="1300" dirty="0"/>
          </a:p>
        </p:txBody>
      </p:sp>
      <p:sp>
        <p:nvSpPr>
          <p:cNvPr id="51" name="Shape 41"/>
          <p:cNvSpPr/>
          <p:nvPr/>
        </p:nvSpPr>
        <p:spPr>
          <a:xfrm>
            <a:off x="8092440" y="4681728"/>
            <a:ext cx="3639312" cy="1298448"/>
          </a:xfrm>
          <a:prstGeom prst="roundRect">
            <a:avLst>
              <a:gd name="adj" fmla="val 5634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8257032" y="490118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E7F3F0"/>
          </a:solidFill>
        </p:spPr>
      </p:sp>
      <p:pic>
        <p:nvPicPr>
          <p:cNvPr id="53" name="Image 8" descr="C:\Users\Lenovo\Desktop\Self-Evolved-Agent\product\slides\icons\search-0F6E6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9328" y="4983480"/>
            <a:ext cx="256032" cy="256032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8805672" y="4864608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pku-course</a:t>
            </a:r>
            <a:endParaRPr lang="en-US" sz="1500" dirty="0"/>
          </a:p>
        </p:txBody>
      </p:sp>
      <p:sp>
        <p:nvSpPr>
          <p:cNvPr id="55" name="Text 44"/>
          <p:cNvSpPr/>
          <p:nvPr/>
        </p:nvSpPr>
        <p:spPr>
          <a:xfrm>
            <a:off x="8805672" y="5193792"/>
            <a:ext cx="269748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子进程查公开课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不登录、不改契约</a:t>
            </a:r>
            <a:endParaRPr lang="en-US" sz="1300" dirty="0"/>
          </a:p>
        </p:txBody>
      </p:sp>
      <p:sp>
        <p:nvSpPr>
          <p:cNvPr id="56" name="Text 45"/>
          <p:cNvSpPr/>
          <p:nvPr/>
        </p:nvSpPr>
        <p:spPr>
          <a:xfrm>
            <a:off x="502920" y="6108192"/>
            <a:ext cx="9326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学科名单在 knowledge/。这一阶段用关键词，不做向量库。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系统设计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个性化必须能指回一句人话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195560" y="6510528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8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 /  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675888" cy="4160520"/>
          </a:xfrm>
          <a:prstGeom prst="roundRect">
            <a:avLst>
              <a:gd name="adj" fmla="val 1990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417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7F3F0"/>
          </a:solidFill>
        </p:spPr>
      </p:sp>
      <p:pic>
        <p:nvPicPr>
          <p:cNvPr id="7" name="Image 0" descr="C:\Users\Lenovo\Desktop\Self-Evolved-Agent\product\slides\icons\user-0F6E6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5179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9304" y="13898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用户事实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89304" y="1700784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唯一的认知单元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2376" y="2194560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79576" y="2176272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背景、兴趣、能力、偏好、经历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22376" y="2907792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79576" y="2889504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值是人可读的句子，不打分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22376" y="3621024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79576" y="3602736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来源分声明、推断、行为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22376" y="4334256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79576" y="4315968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没有证据，不允许写入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343400" y="1234440"/>
            <a:ext cx="3675888" cy="4160520"/>
          </a:xfrm>
          <a:prstGeom prst="roundRect">
            <a:avLst>
              <a:gd name="adj" fmla="val 1990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44568" y="1417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7F3F0"/>
          </a:solidFill>
        </p:spPr>
      </p:sp>
      <p:pic>
        <p:nvPicPr>
          <p:cNvPr id="20" name="Image 1" descr="C:\Users\Lenovo\Desktop\Self-Evolved-Agent\product\slides\icons\compass-0F6E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517904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29784" y="13898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下一步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129784" y="1700784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决策必须带理由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562856" y="2194560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020056" y="2176272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动作、标题、理由、备选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562856" y="2907792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020056" y="2889504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理由至少引用一条事实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562856" y="3621024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020056" y="3602736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规则先出候选，模型再措辞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4562856" y="4334256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020056" y="4315968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模型失败时，直接用规则第一名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8183880" y="1234440"/>
            <a:ext cx="3675888" cy="4160520"/>
          </a:xfrm>
          <a:prstGeom prst="roundRect">
            <a:avLst>
              <a:gd name="adj" fmla="val 1990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385048" y="1417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7F3F0"/>
          </a:solidFill>
        </p:spPr>
      </p:sp>
      <p:pic>
        <p:nvPicPr>
          <p:cNvPr id="33" name="Image 2" descr="C:\Users\Lenovo\Desktop\Self-Evolved-Agent\product\slides\icons\refresh-0F6E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517904"/>
            <a:ext cx="256032" cy="25603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970264" y="13898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写回</a:t>
            </a:r>
            <a:endParaRPr lang="en-US" sz="1800" dirty="0"/>
          </a:p>
        </p:txBody>
      </p:sp>
      <p:sp>
        <p:nvSpPr>
          <p:cNvPr id="35" name="Text 30"/>
          <p:cNvSpPr/>
          <p:nvPr/>
        </p:nvSpPr>
        <p:spPr>
          <a:xfrm>
            <a:off x="8970264" y="1700784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做完的事要留下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8403336" y="2194560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8860536" y="2176272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提交生成一条行为事实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8403336" y="2907792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8860536" y="2889504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旧事实可被取代，不悄悄改写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8403336" y="3621024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8860536" y="3602736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人可以改、可以删</a:t>
            </a:r>
            <a:endParaRPr lang="en-US" sz="1300" dirty="0"/>
          </a:p>
        </p:txBody>
      </p:sp>
      <p:sp>
        <p:nvSpPr>
          <p:cNvPr id="42" name="Text 37"/>
          <p:cNvSpPr/>
          <p:nvPr/>
        </p:nvSpPr>
        <p:spPr>
          <a:xfrm>
            <a:off x="8403336" y="4334256"/>
            <a:ext cx="4206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8860536" y="4315968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刷新之后，记录还在</a:t>
            </a:r>
            <a:endParaRPr lang="en-US" sz="1300" dirty="0"/>
          </a:p>
        </p:txBody>
      </p:sp>
      <p:sp>
        <p:nvSpPr>
          <p:cNvPr id="44" name="Shape 39"/>
          <p:cNvSpPr/>
          <p:nvPr/>
        </p:nvSpPr>
        <p:spPr>
          <a:xfrm>
            <a:off x="502920" y="5559552"/>
            <a:ext cx="11183112" cy="749808"/>
          </a:xfrm>
          <a:prstGeom prst="roundRect">
            <a:avLst>
              <a:gd name="adj" fmla="val 9756"/>
            </a:avLst>
          </a:prstGeom>
          <a:solidFill>
            <a:srgbClr val="10241F"/>
          </a:solidFill>
        </p:spPr>
      </p:sp>
      <p:sp>
        <p:nvSpPr>
          <p:cNvPr id="45" name="Text 40"/>
          <p:cNvSpPr/>
          <p:nvPr/>
        </p:nvSpPr>
        <p:spPr>
          <a:xfrm>
            <a:off x="640080" y="57607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行动大于信息</a:t>
            </a:r>
            <a:endParaRPr lang="en-US" sz="1600" dirty="0"/>
          </a:p>
        </p:txBody>
      </p:sp>
      <p:sp>
        <p:nvSpPr>
          <p:cNvPr id="46" name="Text 41"/>
          <p:cNvSpPr/>
          <p:nvPr/>
        </p:nvSpPr>
        <p:spPr>
          <a:xfrm>
            <a:off x="4343400" y="57607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个性化必须有依据</a:t>
            </a:r>
            <a:endParaRPr lang="en-US" sz="1600" dirty="0"/>
          </a:p>
        </p:txBody>
      </p:sp>
      <p:sp>
        <p:nvSpPr>
          <p:cNvPr id="47" name="Text 42"/>
          <p:cNvSpPr/>
          <p:nvPr/>
        </p:nvSpPr>
        <p:spPr>
          <a:xfrm>
            <a:off x="8046720" y="57607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不编造事实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系统实现  ·  本机效果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打开 127.0.0.1:8100 之后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195560" y="6510528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8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 /  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3794760" cy="4983480"/>
          </a:xfrm>
          <a:prstGeom prst="roundRect">
            <a:avLst>
              <a:gd name="adj" fmla="val 1928"/>
            </a:avLst>
          </a:prstGeom>
          <a:solidFill>
            <a:srgbClr val="10241F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98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CFC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进入之前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719072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首页是黑底粒子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六屏顺着滚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916936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D5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粒子勾出六步，从认识到记住。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按钮在最后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968496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D5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「立即开始体验」不放在第一屏。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70916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模型可现场接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5020056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D5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首页能填兼容接口。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5D5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通了走 DeepSeek，不通仍能看。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0560" y="1207008"/>
            <a:ext cx="7205472" cy="91440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45152" y="1463040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0F6E64"/>
          </a:solidFill>
        </p:spPr>
      </p:sp>
      <p:sp>
        <p:nvSpPr>
          <p:cNvPr id="16" name="Text 14"/>
          <p:cNvSpPr/>
          <p:nvPr/>
        </p:nvSpPr>
        <p:spPr>
          <a:xfrm>
            <a:off x="4645152" y="1527048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70448" y="1463040"/>
            <a:ext cx="5577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进来就看到这一步，不等模型写完才显示。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480560" y="2203704"/>
            <a:ext cx="7205472" cy="91440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45152" y="2459736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0F6E64"/>
          </a:solidFill>
        </p:spPr>
      </p:sp>
      <p:sp>
        <p:nvSpPr>
          <p:cNvPr id="20" name="Text 18"/>
          <p:cNvSpPr/>
          <p:nvPr/>
        </p:nvSpPr>
        <p:spPr>
          <a:xfrm>
            <a:off x="4645152" y="252374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画像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70448" y="2459736"/>
            <a:ext cx="5577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对话和核对都留在这里。可以新建、切换、删除。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480560" y="3200400"/>
            <a:ext cx="7205472" cy="91440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45152" y="3456432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0F6E64"/>
          </a:solidFill>
        </p:spPr>
      </p:sp>
      <p:sp>
        <p:nvSpPr>
          <p:cNvPr id="24" name="Text 22"/>
          <p:cNvSpPr/>
          <p:nvPr/>
        </p:nvSpPr>
        <p:spPr>
          <a:xfrm>
            <a:off x="4645152" y="352044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70448" y="3456432"/>
            <a:ext cx="5577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树从起点长出来。建议按当前画像分开，换方向要确认。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480560" y="4197096"/>
            <a:ext cx="7205472" cy="91440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45152" y="4453128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0F6E64"/>
          </a:solidFill>
        </p:spPr>
      </p:sp>
      <p:sp>
        <p:nvSpPr>
          <p:cNvPr id="28" name="Text 26"/>
          <p:cNvSpPr/>
          <p:nvPr/>
        </p:nvSpPr>
        <p:spPr>
          <a:xfrm>
            <a:off x="4645152" y="4517136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870448" y="4453128"/>
            <a:ext cx="5577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只显示这棵树上的当前节点。提交后，反馈写在本页。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480560" y="5193792"/>
            <a:ext cx="7205472" cy="91440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45152" y="5449824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0F6E64"/>
          </a:solidFill>
        </p:spPr>
      </p:sp>
      <p:sp>
        <p:nvSpPr>
          <p:cNvPr id="32" name="Text 30"/>
          <p:cNvSpPr/>
          <p:nvPr/>
        </p:nvSpPr>
        <p:spPr>
          <a:xfrm>
            <a:off x="4645152" y="551383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870448" y="5449824"/>
            <a:ext cx="5577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它记住的事实在这里。刷新不会把进度退回树根。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系统实现  ·  本机效果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三件事不能靠文案演出来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195560" y="6510528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8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 /  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1183112" cy="1517904"/>
          </a:xfrm>
          <a:prstGeom prst="roundRect">
            <a:avLst>
              <a:gd name="adj" fmla="val 4819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90472"/>
            <a:ext cx="10058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600" dirty="0"/>
          </a:p>
        </p:txBody>
      </p:sp>
      <p:pic>
        <p:nvPicPr>
          <p:cNvPr id="7" name="Image 0" descr="C:\Users\Lenovo\Desktop\Self-Evolved-Agent\product\slides\icons\search-0F6E6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152704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04288" y="1490472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课是查出来的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304288" y="1984248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方向旁的课来自北大教务公开接口。没查到就说明没有，不换成写死的课表。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2880360"/>
            <a:ext cx="11183112" cy="1517904"/>
          </a:xfrm>
          <a:prstGeom prst="roundRect">
            <a:avLst>
              <a:gd name="adj" fmla="val 4819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3136392"/>
            <a:ext cx="10058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600" dirty="0"/>
          </a:p>
        </p:txBody>
      </p:sp>
      <p:pic>
        <p:nvPicPr>
          <p:cNvPr id="12" name="Image 1" descr="C:\Users\Lenovo\Desktop\Self-Evolved-Agent\product\slides\icons\database-0F6E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317296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04288" y="3136392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记得住是写进库的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304288" y="3630168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提交之后，记录里多一条行为事实，带着时间和这次提交。刷新页面还在。删掉也是软删，不是藏起来。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02920" y="4526280"/>
            <a:ext cx="11183112" cy="1517904"/>
          </a:xfrm>
          <a:prstGeom prst="roundRect">
            <a:avLst>
              <a:gd name="adj" fmla="val 4819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9808" y="4782312"/>
            <a:ext cx="10058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600" dirty="0"/>
          </a:p>
        </p:txBody>
      </p:sp>
      <p:pic>
        <p:nvPicPr>
          <p:cNvPr id="17" name="Image 2" descr="C:\Users\Lenovo\Desktop\Self-Evolved-Agent\product\slides\icons\cpu-0F6E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4818888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304288" y="4782312"/>
            <a:ext cx="8961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模型断了，演示还在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2304288" y="5276088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对话、方向理由和任务反馈走 DeepSeek。断了就退回规则，页面不白，链路还能走完。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六个人，分成四件事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195560" y="6510528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8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 /  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功能思考   ·   3 人</a:t>
            </a:r>
            <a:endParaRPr lang="en-US" sz="1300" dirty="0"/>
          </a:p>
        </p:txBody>
      </p:sp>
      <p:sp>
        <p:nvSpPr>
          <p:cNvPr id="11" name="Shape 8"/>
          <p:cNvSpPr/>
          <p:nvPr>
            <p:custDataLst>
              <p:tags r:id="rId1"/>
            </p:custDataLst>
          </p:nvPr>
        </p:nvSpPr>
        <p:spPr>
          <a:xfrm>
            <a:off x="4343400" y="1444625"/>
            <a:ext cx="3676015" cy="2325370"/>
          </a:xfrm>
          <a:prstGeom prst="roundRect">
            <a:avLst>
              <a:gd name="adj" fmla="val 3721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pic>
        <p:nvPicPr>
          <p:cNvPr id="12" name="Image 1" descr="C:\Users\Lenovo\Desktop\Self-Evolved-Agent\product\slides\icons\bulb-0F6E64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44568" y="162763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>
            <p:custDataLst>
              <p:tags r:id="rId4"/>
            </p:custDataLst>
          </p:nvPr>
        </p:nvSpPr>
        <p:spPr>
          <a:xfrm>
            <a:off x="4873752" y="1591056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刘弘雅</a:t>
            </a:r>
            <a:r>
              <a:rPr lang="zh-CN" altLang="en-US" sz="16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，张效端，陈</a:t>
            </a:r>
            <a:r>
              <a:rPr lang="zh-CN" altLang="en-US" sz="16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旭</a:t>
            </a:r>
            <a:endParaRPr lang="zh-CN" altLang="en-US" sz="1600" b="1" dirty="0">
              <a:solidFill>
                <a:srgbClr val="1424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0"/>
          <p:cNvSpPr/>
          <p:nvPr>
            <p:custDataLst>
              <p:tags r:id="rId5"/>
            </p:custDataLst>
          </p:nvPr>
        </p:nvSpPr>
        <p:spPr>
          <a:xfrm>
            <a:off x="4544568" y="2029968"/>
            <a:ext cx="32735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</a:t>
            </a:r>
            <a:r>
              <a:rPr lang="zh-CN" altLang="en-US" sz="14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思考</a:t>
            </a:r>
            <a:endParaRPr lang="zh-CN" altLang="en-US" sz="1400" dirty="0">
              <a:solidFill>
                <a:srgbClr val="0F6E6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1"/>
          <p:cNvSpPr/>
          <p:nvPr>
            <p:custDataLst>
              <p:tags r:id="rId6"/>
            </p:custDataLst>
          </p:nvPr>
        </p:nvSpPr>
        <p:spPr>
          <a:xfrm>
            <a:off x="4544568" y="2395728"/>
            <a:ext cx="327355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如何将一个知识提供者，做成一个数字化导致，人机交互流程如何</a:t>
            </a:r>
            <a:r>
              <a:rPr lang="zh-CN" altLang="en-US" sz="14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编排</a:t>
            </a:r>
            <a:endParaRPr lang="zh-CN" altLang="en-US" sz="1400" dirty="0">
              <a:solidFill>
                <a:srgbClr val="5C6E6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Shape 16"/>
          <p:cNvSpPr/>
          <p:nvPr>
            <p:custDataLst>
              <p:tags r:id="rId7"/>
            </p:custDataLst>
          </p:nvPr>
        </p:nvSpPr>
        <p:spPr>
          <a:xfrm>
            <a:off x="511810" y="1435735"/>
            <a:ext cx="3675888" cy="2331720"/>
          </a:xfrm>
          <a:prstGeom prst="roundRect">
            <a:avLst>
              <a:gd name="adj" fmla="val 3137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22" name="Shape 17"/>
          <p:cNvSpPr/>
          <p:nvPr>
            <p:custDataLst>
              <p:tags r:id="rId8"/>
            </p:custDataLst>
          </p:nvPr>
        </p:nvSpPr>
        <p:spPr>
          <a:xfrm>
            <a:off x="712978" y="1627759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7F3F0"/>
          </a:solidFill>
        </p:spPr>
      </p:sp>
      <p:pic>
        <p:nvPicPr>
          <p:cNvPr id="23" name="Image 3" descr="C:\Users\Lenovo\Desktop\Self-Evolved-Agent\product\slides\icons\monitor-0F6E64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04418" y="1719199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>
            <p:custDataLst>
              <p:tags r:id="rId11"/>
            </p:custDataLst>
          </p:nvPr>
        </p:nvSpPr>
        <p:spPr>
          <a:xfrm>
            <a:off x="1279906" y="1627759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搓 Demo</a:t>
            </a:r>
            <a:endParaRPr lang="en-US" sz="1200" dirty="0"/>
          </a:p>
        </p:txBody>
      </p:sp>
      <p:sp>
        <p:nvSpPr>
          <p:cNvPr id="25" name="Text 19"/>
          <p:cNvSpPr/>
          <p:nvPr>
            <p:custDataLst>
              <p:tags r:id="rId12"/>
            </p:custDataLst>
          </p:nvPr>
        </p:nvSpPr>
        <p:spPr>
          <a:xfrm>
            <a:off x="1279906" y="1847215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别克扎提·拜别提</a:t>
            </a:r>
            <a:endParaRPr lang="en-US" sz="1600" dirty="0"/>
          </a:p>
        </p:txBody>
      </p:sp>
      <p:sp>
        <p:nvSpPr>
          <p:cNvPr id="26" name="Text 20"/>
          <p:cNvSpPr/>
          <p:nvPr>
            <p:custDataLst>
              <p:tags r:id="rId13"/>
            </p:custDataLst>
          </p:nvPr>
        </p:nvSpPr>
        <p:spPr>
          <a:xfrm>
            <a:off x="712978" y="2350135"/>
            <a:ext cx="327355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登录、对话、方向、任务、写回，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接成一条本机能跑的链路。</a:t>
            </a:r>
            <a:endParaRPr lang="en-US" sz="1400" dirty="0"/>
          </a:p>
        </p:txBody>
      </p:sp>
      <p:sp>
        <p:nvSpPr>
          <p:cNvPr id="27" name="Shape 21"/>
          <p:cNvSpPr/>
          <p:nvPr>
            <p:custDataLst>
              <p:tags r:id="rId14"/>
            </p:custDataLst>
          </p:nvPr>
        </p:nvSpPr>
        <p:spPr>
          <a:xfrm>
            <a:off x="502920" y="3931920"/>
            <a:ext cx="3675888" cy="2331720"/>
          </a:xfrm>
          <a:prstGeom prst="roundRect">
            <a:avLst>
              <a:gd name="adj" fmla="val 3137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28" name="Shape 22"/>
          <p:cNvSpPr/>
          <p:nvPr>
            <p:custDataLst>
              <p:tags r:id="rId15"/>
            </p:custDataLst>
          </p:nvPr>
        </p:nvSpPr>
        <p:spPr>
          <a:xfrm>
            <a:off x="704088" y="41239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7F3F0"/>
          </a:solidFill>
        </p:spPr>
      </p:sp>
      <p:pic>
        <p:nvPicPr>
          <p:cNvPr id="29" name="Image 4" descr="C:\Users\Lenovo\Desktop\Self-Evolved-Agent\product\slides\icons\search-0F6E64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95528" y="4215384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>
            <p:custDataLst>
              <p:tags r:id="rId18"/>
            </p:custDataLst>
          </p:nvPr>
        </p:nvSpPr>
        <p:spPr>
          <a:xfrm>
            <a:off x="1271016" y="4123944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爬课程</a:t>
            </a:r>
            <a:endParaRPr lang="en-US" sz="1200" dirty="0"/>
          </a:p>
        </p:txBody>
      </p:sp>
      <p:sp>
        <p:nvSpPr>
          <p:cNvPr id="31" name="Text 24"/>
          <p:cNvSpPr/>
          <p:nvPr>
            <p:custDataLst>
              <p:tags r:id="rId19"/>
            </p:custDataLst>
          </p:nvPr>
        </p:nvSpPr>
        <p:spPr>
          <a:xfrm>
            <a:off x="1271016" y="4343400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陈浩文</a:t>
            </a:r>
            <a:endParaRPr lang="en-US" sz="1600" dirty="0"/>
          </a:p>
        </p:txBody>
      </p:sp>
      <p:sp>
        <p:nvSpPr>
          <p:cNvPr id="32" name="Text 25"/>
          <p:cNvSpPr/>
          <p:nvPr>
            <p:custDataLst>
              <p:tags r:id="rId20"/>
            </p:custDataLst>
          </p:nvPr>
        </p:nvSpPr>
        <p:spPr>
          <a:xfrm>
            <a:off x="704088" y="4846320"/>
            <a:ext cx="327355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公开课检索接进方向。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查不到就明说，技能契约不改。</a:t>
            </a:r>
            <a:endParaRPr lang="en-US" sz="1400" dirty="0"/>
          </a:p>
        </p:txBody>
      </p:sp>
      <p:sp>
        <p:nvSpPr>
          <p:cNvPr id="33" name="Shape 26"/>
          <p:cNvSpPr/>
          <p:nvPr>
            <p:custDataLst>
              <p:tags r:id="rId21"/>
            </p:custDataLst>
          </p:nvPr>
        </p:nvSpPr>
        <p:spPr>
          <a:xfrm>
            <a:off x="4448810" y="3930650"/>
            <a:ext cx="3675888" cy="2331720"/>
          </a:xfrm>
          <a:prstGeom prst="roundRect">
            <a:avLst>
              <a:gd name="adj" fmla="val 3137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34" name="Shape 27"/>
          <p:cNvSpPr/>
          <p:nvPr>
            <p:custDataLst>
              <p:tags r:id="rId22"/>
            </p:custDataLst>
          </p:nvPr>
        </p:nvSpPr>
        <p:spPr>
          <a:xfrm>
            <a:off x="4649978" y="412267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7F3F0"/>
          </a:solidFill>
        </p:spPr>
      </p:sp>
      <p:pic>
        <p:nvPicPr>
          <p:cNvPr id="35" name="Image 5" descr="C:\Users\Lenovo\Desktop\Self-Evolved-Agent\product\slides\icons\pen-0F6E64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4741418" y="4214114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/>
          <p:nvPr>
            <p:custDataLst>
              <p:tags r:id="rId25"/>
            </p:custDataLst>
          </p:nvPr>
        </p:nvSpPr>
        <p:spPr>
          <a:xfrm>
            <a:off x="5216906" y="4122674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优化前端</a:t>
            </a:r>
            <a:endParaRPr lang="en-US" sz="1200" dirty="0"/>
          </a:p>
        </p:txBody>
      </p:sp>
      <p:sp>
        <p:nvSpPr>
          <p:cNvPr id="37" name="Text 29"/>
          <p:cNvSpPr/>
          <p:nvPr>
            <p:custDataLst>
              <p:tags r:id="rId26"/>
            </p:custDataLst>
          </p:nvPr>
        </p:nvSpPr>
        <p:spPr>
          <a:xfrm>
            <a:off x="5216906" y="4342130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邬程灿</a:t>
            </a:r>
            <a:endParaRPr lang="en-US" sz="1600" dirty="0"/>
          </a:p>
        </p:txBody>
      </p:sp>
      <p:sp>
        <p:nvSpPr>
          <p:cNvPr id="38" name="Text 30"/>
          <p:cNvSpPr/>
          <p:nvPr>
            <p:custDataLst>
              <p:tags r:id="rId27"/>
            </p:custDataLst>
          </p:nvPr>
        </p:nvSpPr>
        <p:spPr>
          <a:xfrm>
            <a:off x="4649978" y="4845050"/>
            <a:ext cx="327355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五个工作区换掉原来的步骤条。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首页和方向树收到能演示。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E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辅助开发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它加快了试错，也放大了没跑过的判断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195560" y="6510528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8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 /  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898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7F3F0"/>
          </a:solidFill>
        </p:spPr>
      </p:sp>
      <p:pic>
        <p:nvPicPr>
          <p:cNvPr id="7" name="Image 0" descr="C:\Users\Lenovo\Desktop\Self-Evolved-Agent\product\slides\icons\spark-0F6E6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5389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426464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帮上的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" y="1993392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契约没有被改散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9808" y="2286000"/>
            <a:ext cx="4983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生成跟着已冻结的端点和字段走，没有各写一套接口。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9808" y="292608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界面试得很快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" y="3218688"/>
            <a:ext cx="4983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工作区、方向树、首页粒子，都是短周期改出来再留下的。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49808" y="3858768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下一次接得上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49808" y="4151376"/>
            <a:ext cx="4983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改动写进变更日志。新会话先读日志，不靠聊天记录。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49808" y="4791456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退路被留住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49808" y="5084064"/>
            <a:ext cx="4983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模型失败时规则路径还在，演示不会卡在白屏上。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172200" y="1207008"/>
            <a:ext cx="5504688" cy="4709160"/>
          </a:xfrm>
          <a:prstGeom prst="roundRect">
            <a:avLst>
              <a:gd name="adj" fmla="val 1553"/>
            </a:avLst>
          </a:prstGeom>
          <a:solidFill>
            <a:srgbClr val="FFFCF8"/>
          </a:solidFill>
          <a:ln w="12700">
            <a:solidFill>
              <a:srgbClr val="E4DCD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55080" y="13898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8EBE6"/>
          </a:solidFill>
        </p:spPr>
      </p:sp>
      <p:pic>
        <p:nvPicPr>
          <p:cNvPr id="19" name="Image 1" descr="C:\Users\Lenovo\Desktop\Self-Evolved-Agent\product\slides\icons\alert-C45C3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453896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858000" y="1426464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帮倒的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419088" y="1993392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多出来的说明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419088" y="2286000"/>
            <a:ext cx="4983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会主动加文案、入口，和这次没人要的区块。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419088" y="292608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视觉不自己收敛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419088" y="3218688"/>
            <a:ext cx="4983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首页粒子改了很多轮，才停在黑底和慢回的波纹。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419088" y="3858768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不打开就说完成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419088" y="4151376"/>
            <a:ext cx="4983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刷新丢进度、换方向跳进任务，都是点开页面才发现。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419088" y="4791456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4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一次动太多文件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6419088" y="5084064"/>
            <a:ext cx="4983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E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旧问题会在下一版回来，不能只看最新一句回复。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10058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BFB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这一阶段交出去的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不是另一个问答框。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4231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7F3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是本机上走得完的一条闭环。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CFC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096512"/>
            <a:ext cx="33832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任务再做厚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D5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每个方向的层级拉开，不停在第一道题。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379476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CFC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4096512"/>
            <a:ext cx="33832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演示离开开发机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89120" y="452628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D5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一条命令能在另一台机器上打开。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8160" y="379476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CFC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38160" y="4096512"/>
            <a:ext cx="33832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调用留下日志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38160" y="452628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D5C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模型用了哪一版、花了多久，事后查得到。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989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E9A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启研   ·   2026.09.28</a:t>
            </a:r>
            <a:endParaRPr lang="en-US" sz="1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ags/tag2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ags/tag3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ags/tag4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ags/tag5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ags/tag6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ags/tag7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ags/tag8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ags/tag9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ags/tag10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ags/tag11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ags/tag12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ags/tag13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ags/tag14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ags/tag15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ags/tag16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ags/tag17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ags/tag18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ags/tag19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ags/tag20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ags/tag21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ags/tag22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ags/tag23.xml><?xml version="1.0" encoding="utf-8"?>
<p:tagLst xmlns:p="http://schemas.openxmlformats.org/presentationml/2006/main">
  <p:tag name="KSO_WM_DIAGRAM_VIRTUALLY_FRAME" val="{&quot;height&quot;:380.15,&quot;left&quot;:39.6,&quot;top&quot;:113.05,&quot;width&quot;:894.2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2177</Words>
  <Application>WPS 演示</Application>
  <PresentationFormat>On-screen Show (16:9)</PresentationFormat>
  <Paragraphs>454</Paragraphs>
  <Slides>10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启研 · 阶段汇报</dc:title>
  <dc:creator>启研项目组</dc:creator>
  <dc:subject>2026-09-28 冲刺汇报</dc:subject>
  <cp:lastModifiedBy>WPS_1708752725</cp:lastModifiedBy>
  <cp:revision>8</cp:revision>
  <dcterms:created xsi:type="dcterms:W3CDTF">2026-09-28T11:43:00Z</dcterms:created>
  <dcterms:modified xsi:type="dcterms:W3CDTF">2026-09-28T11:47:25Z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CA510F25DE4641639874FF1E2C68E73B_12</vt:lpwstr>
  </property>
  <property fmtid="{D5CDD505-2E9C-101B-9397-08002B2CF9AE}" pid="3" name="KSOProductBuildVer">
    <vt:lpwstr>2052-12.1.0.23542</vt:lpwstr>
  </property>
</Properties>
</file>